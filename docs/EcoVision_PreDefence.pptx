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1" d="100"/>
          <a:sy n="91" d="100"/>
        </p:scale>
        <p:origin x="1314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5809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REMINDER — confirm before presenting: supervisor name on this slide (Rubel Sheikh, Lecturer, Dept. of ETE, UFTB) is taken from the original proposal; the title-page draft left this field blank. Verify it is still correct before this deck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CAUTION FLAGS for Q&amp;A: (1) A later full-thesis draft reports a much larger, statistically significant Bandarban loss figure (71,011 +/- 41,629 ha, 18 reference change points) — this deck deliberately uses the phase8_results.md interim numbers (2 reference change points, non-significant) per instruction; do not mix the two. (2) The kappa figures (0.157/0.038) come from a fuller cross-stratum double-interpretation design, not phase8_results.md's single-interpreter design — flag this to the supervisor if asked; frame as: interpretation is still in progress and both sample size and double-coverage subset are evolving. (3) In the fuller draft, the Discussion chapter is labelled Chapter 7 but its subsections are numbered 8.1-8.9, a leftover from an earlier numbering scheme — don't be caught off guard if the supervisor raises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Anticipated pre-defence questions (prep notes):
Q: Why is your Bandarban loss figure not significant, when the abstract talks about the jhum finding so confidently?
A: Two separate results. The LandTrendr trajectory proportions (16.4% permanent / 63.8% cyclical, out of 88,122 ha disturbed) are a model-side finding, independent of the reference sample's small size. The reference-sample-based loss estimate (70+/-96 ha) is a separate, underpowered measurement limited by only 2 reference change points in Bandarban. Both are honestly reported; they answer different questions.
Q: Why report a failing kappa instead of just fixing it before presenting?
A: Reporting it, and stating what it means (definitional ambiguity in village-vegetation/forest boundary, not random error -- 75 of Sylhet's 101 disagreements run in one direction), is itself a contribution; reconciliation is explicitly next on the future-work list.
Q: Why only 400 reference points instead of the planned 1,650?
A: Schedule constraint, stated as a deliberate, one-directional trade: smaller sample = wider intervals (a weaker but honest result) vs. omitting accuracy assessment entirely (which would make every other figure circular).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7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PRE-DEFENCE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for Deforestation Detection in Bangladesh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C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Three-District Comparison of Classification and Change Detection Methods Using Landsat Imagery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2926080" cy="0"/>
          </a:xfrm>
          <a:prstGeom prst="line">
            <a:avLst/>
          </a:prstGeom>
          <a:noFill/>
          <a:ln w="19050">
            <a:solidFill>
              <a:srgbClr val="5C8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 Sulaiman Sony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 2002026)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Jalal Uddin Mohammad Akbar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 2002050)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9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Rubel Sheikh, Lecturer
</a:t>
            </a:r>
            <a:r>
              <a:rPr lang="en-US" sz="1250" dirty="0">
                <a:solidFill>
                  <a:srgbClr val="9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Educational Technology and Engineering
University of Frontier Technology, Bangladesh (UFTB)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1206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Research Background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Research Problem &amp; Motivation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Literature Review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Research Gap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Research Objectives / Questions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Proposed Research Framework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Dataset / Data Collection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Data Preprocessing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09360" y="1417320"/>
            <a:ext cx="51206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Research Methodology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Experimental Setup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Experimental Results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Detailed Results Analysis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Discussion &amp; Comparison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 Research Contributions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 Limitations, Future Work &amp; Conclusion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1463040"/>
            <a:ext cx="0" cy="4480560"/>
          </a:xfrm>
          <a:prstGeom prst="line">
            <a:avLst/>
          </a:prstGeom>
          <a:noFill/>
          <a:ln w="12700">
            <a:solidFill>
              <a:srgbClr val="D6DE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Background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6675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has one of the lowest per-capita forest areas and highest population densities in the world. Forest pressure is not uniform — it takes three different forms in three different regions: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286000"/>
          <a:ext cx="6675120" cy="18288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Around Dhaka (Gazipur)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 and industrial expansion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Northeast (Sylhet)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Agricultural encroachment, plantation conversion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Southeast hill tracts (Bandarban)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Shifting cultivation (jhum)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206240"/>
            <a:ext cx="6675120" cy="1920240"/>
          </a:xfrm>
          <a:prstGeom prst="rect">
            <a:avLst/>
          </a:prstGeom>
          <a:solidFill>
            <a:srgbClr val="E8F1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4279392"/>
            <a:ext cx="621792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Satellite-based forest monitoring methods were developed and validated on landscapes where loss is abrupt, permanent, and spectrally unambiguous. Where that doesn't hold — plantation confusion, cyclical clearing — the failure is silent: a map and a number get produced, and nothing in the output signals that the method answered the wrong question.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0" y="574243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Study districts and dominant loss mechanism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41BD7A-9426-D7B8-6893-173474329A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6569" r="46865"/>
          <a:stretch>
            <a:fillRect/>
          </a:stretch>
        </p:blipFill>
        <p:spPr>
          <a:xfrm>
            <a:off x="7406640" y="613337"/>
            <a:ext cx="4283018" cy="30864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C11BD3-FFDD-B4FC-B96D-2E3C4A2095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144" t="25785" r="-150" b="11103"/>
          <a:stretch>
            <a:fillRect/>
          </a:stretch>
        </p:blipFill>
        <p:spPr>
          <a:xfrm>
            <a:off x="7511883" y="3597213"/>
            <a:ext cx="4111354" cy="20848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Problem &amp; Motivation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DIFFICULTIES, EACH DEFEATING A STANDARD ASSUMPTION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57276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ambiguity — forest vs. plantation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892808"/>
            <a:ext cx="685800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plantation and natural forest are both dense, evergreen, and spectrally similar at 30 m. A classifier that can't separate them reports plantation expansion as forest stability, or forest cleared for tea as no change.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807208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76148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tree cover that isn't forest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081528"/>
            <a:ext cx="685800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Homestead gardens (betel, areca, etc.) look forest-like at Landsat resolution but sit over settlement. Distinguishing needs settlement pattern, not greenness.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995928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995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95020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disturbance that isn't deforestation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4270248"/>
            <a:ext cx="685800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cultivation (jhum): cleared, cropped, regrown over 5-7 years. A two-date comparison scores the same plot as loss, gain, or no-change purely depending on where the two dates fall in the cycle — an error in temporal design, not classifier accuracy.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5349240"/>
            <a:ext cx="7406640" cy="868680"/>
          </a:xfrm>
          <a:prstGeom prst="rect">
            <a:avLst/>
          </a:prstGeom>
          <a:solidFill>
            <a:srgbClr val="E8F1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422392"/>
            <a:ext cx="69494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Motivating question: how much does choice of method matter as these three problems accumulate — and do methods that work on simple landscapes remain the right choice on complex ones?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54406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forest monitoring baseline — Hansen et al. (2013) Global Forest Change: global 30 m Landsat-based loss/gain map, baseline year 2000, used here as training-label source. Pekel et al. (2016) JRC Global Surface Water is a permanence statistic, not date-specific (matters for the water-class results).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definitions — FAO's definition includes a land-use criterion (temporarily unstocked land still counts as forest). This study deliberately uses a canopy-only, date-specific definition instead: a jhum plot is non-forest when cleared, forest again once regrown.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methods — Random Forest (Breiman, 2001): strong baseline, no spatial context. U-Net (Ronneberger et al., 2015): standard for segmentation, needs pretraining on small datasets. Stacked ensembles combine models with different failure modes, but the literature under-discusses that a stack inherits its meta-learner's training-partition class coverage.</a:t>
            </a:r>
            <a:endParaRPr lang="en-US" sz="11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 — Post-classification comparison (PCC) accumulates error from both dates (well-established weakness). Direct/Siamese methods (Daudt et al., 2018) compare dates within one model. Benchmark datasets (LEVIR-CD, OSCD) are urban/high-res, limiting direct transfer to 30 m forest change.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172200" y="1280160"/>
            <a:ext cx="54406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segmentation — LandTrendr (Kennedy et al., 2010) fits piecewise trajectories to a yearly series, needed because two dates can't separate cyclical from permanent change. Alternatives (BFAST, CCDC) exist; LandTrendr was chosen for explicit segment-level disturbance/recovery magnitude.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 discrimination — GLCM texture (Haralick et al., 1973) is the structural signal (planted rows, geometric boundaries) tested here via ablation. SDPT v2.0 (2024) now covers 158 countries. Bangladesh Tea Board/Association reports 167 estates, ~113,100 ha nationally — area statistics, not boundaries.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area estimation — Olofsson et al. (2014): pixel counting is a biased area estimator; use a stratified estimator with confidence intervals instead. Cohen's κ (1960) is appropriate for interpreter agreement (as used here), explicitly not recommended by Olofsson et al. as a map-accuracy statistic.</a:t>
            </a:r>
            <a:endParaRPr lang="en-US" sz="11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Cross-sensor harmonisation — Roy et al. (2016): standard published ETM+ -&gt; OLI coefficients, derived over CONUS. This study tests, rather than assumes, their transfer to Bangladesh — they do not transfer well.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0" y="1325880"/>
            <a:ext cx="0" cy="5029200"/>
          </a:xfrm>
          <a:prstGeom prst="line">
            <a:avLst/>
          </a:prstGeom>
          <a:noFill/>
          <a:ln w="12700">
            <a:solidFill>
              <a:srgbClr val="D6DE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34416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comparison across loss mechanisms, not just landscapes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64208"/>
            <a:ext cx="1033272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studies hold landscape constant and vary the model. This study varies both — three districts, three mechanisms — so the interaction between class structure and model capability becomes visible.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24328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624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57860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controlled ablation isolating texture's contribution to plantation discrimination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898648"/>
            <a:ext cx="1033272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features are commonly included in stacks but rarely isolated by holding architecture and everything else constant. This study's E3/E4 comparison does exactly that.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858768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858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38130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Deforestation totals for shifting-cultivation landscapes routinely skip the permanent/cyclical split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133088"/>
            <a:ext cx="1033272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makes that separation explicit and mandatory — no Bandarban loss figure is reported without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093208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5093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504748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reference data exists for Bangladesh's tea plantations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5367528"/>
            <a:ext cx="1033272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area statistics exist; boundaries don't. This bounds what any study of the region can currently achieve.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 / Research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201400" cy="777240"/>
          </a:xfrm>
          <a:prstGeom prst="rect">
            <a:avLst/>
          </a:prstGeom>
          <a:solidFill>
            <a:srgbClr val="E8F1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07592"/>
            <a:ext cx="107442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measure forest cover change in Gazipur, Sylhet and Bandarban, 1988-2024, using Landsat imagery, comparing ML, DL and temporal-segmentation approaches across three landscapes chosen to differ in loss mechanism.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94560"/>
          <a:ext cx="11201400" cy="21945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78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forest cover has been lost in each district, and how do loss patterns differ?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model — U-Net or Random Forest — performs best in each district? Does the best model differ between districts?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adding GLCM texture resolve the natural-forest vs. tea-plantation confusion in Sylhet?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annual temporal segmentation separate cyclical jhum disturbance from permanent conversion in Bandarban?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6035040"/>
            <a:ext cx="11201400" cy="502920"/>
          </a:xfrm>
          <a:prstGeom prst="rect">
            <a:avLst/>
          </a:prstGeom>
          <a:solidFill>
            <a:srgbClr val="FBF3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5"/>
          <p:cNvSpPr/>
          <p:nvPr/>
        </p:nvSpPr>
        <p:spPr>
          <a:xfrm>
            <a:off x="731520" y="6108192"/>
            <a:ext cx="10744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9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is the reason Bandarban is in the study — without it, the third district is just more area, not a distinct test.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Research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90887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9088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93807" y="132588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58399" y="1325880"/>
            <a:ext cx="890887" cy="777240"/>
          </a:xfrm>
          <a:prstGeom prst="roundRect">
            <a:avLst>
              <a:gd name="adj" fmla="val 7059"/>
            </a:avLst>
          </a:prstGeom>
          <a:solidFill>
            <a:srgbClr val="5C8A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15269" y="1325880"/>
            <a:ext cx="10006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49286" y="132588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13878" y="1325880"/>
            <a:ext cx="890887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13878" y="1325880"/>
            <a:ext cx="89088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04765" y="132588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69357" y="1325880"/>
            <a:ext cx="890887" cy="777240"/>
          </a:xfrm>
          <a:prstGeom prst="roundRect">
            <a:avLst>
              <a:gd name="adj" fmla="val 7059"/>
            </a:avLst>
          </a:prstGeom>
          <a:solidFill>
            <a:srgbClr val="5C8A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69357" y="1325880"/>
            <a:ext cx="89088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60243" y="132588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24835" y="1325880"/>
            <a:ext cx="890887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24835" y="1325880"/>
            <a:ext cx="89088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15722" y="132588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80314" y="1325880"/>
            <a:ext cx="890887" cy="777240"/>
          </a:xfrm>
          <a:prstGeom prst="roundRect">
            <a:avLst>
              <a:gd name="adj" fmla="val 7059"/>
            </a:avLst>
          </a:prstGeom>
          <a:solidFill>
            <a:srgbClr val="5C8A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80314" y="1325880"/>
            <a:ext cx="89088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1201" y="132588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35793" y="1325880"/>
            <a:ext cx="890887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35793" y="1325880"/>
            <a:ext cx="89088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23160"/>
          <a:ext cx="7223760" cy="18288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Gazipur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1,819 km²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Abrupt permanent conversion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/ easy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Sylhet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3,416 km²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Gradual degradation, plantation confusion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Bandarban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4,592 km²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Cyclical clearing / regrowth (jhum)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502920" y="4480560"/>
            <a:ext cx="7223760" cy="1005840"/>
          </a:xfrm>
          <a:prstGeom prst="rect">
            <a:avLst/>
          </a:prstGeom>
          <a:solidFill>
            <a:srgbClr val="E8F1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31520" y="4553712"/>
            <a:ext cx="67665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method that performs well in Gazipur and poorly in Bandarban has told us something specific about where it should — and shouldn't — be deployed.”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138160" y="51023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Analysis pipeline overview</a:t>
            </a:r>
            <a:endParaRPr lang="en-US" sz="900" dirty="0"/>
          </a:p>
        </p:txBody>
      </p:sp>
      <p:pic>
        <p:nvPicPr>
          <p:cNvPr id="30" name="Picture 29" descr="pipeline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424" y="1325880"/>
            <a:ext cx="3660470" cy="37307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Flow — Detail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4" name="Picture 3" descr="methodology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424" y="1234440"/>
            <a:ext cx="4450102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/ Data Collection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Landsat Collection 2 Level-2 surface reflectance via Google Earth Engine (L4/L5 TM, L7 ETM+, L8/L9 OLI). High-resolution commercial imagery used only for visual reference interpretation — never as model input.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DESIGN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6309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8000"/>
              </a:lnSpc>
              <a:spcAft>
                <a:spcPts val="600"/>
              </a:spcAft>
              <a:buSzPct val="100000"/>
            </a:pP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period starts 1988 — 1985-87 returned zero usable scenes in all three districts (acquisition gap, not cloud).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anchors: T0=1990, T1=2000 (aligns with Hansen baseline), T2=2010, T3=2024. T0 is 1990 not 1988 because 1988's observation depth is ~half of 1990's.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2012-2013 fully SLC-off (Landsat 7 scan-line issue) — excluded as epoch anchors.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Bandarban's longest coverage gap: 1 year (1991) — confirms LandTrendr is viable there.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08660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SAMPLE (ACCURACY ASSESSMENT)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508760"/>
          <a:ext cx="4617720" cy="18288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Gazipur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179,782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Sylhet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326,039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Bandarban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459,409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7"/>
          <p:cNvSpPr/>
          <p:nvPr/>
        </p:nvSpPr>
        <p:spPr>
          <a:xfrm>
            <a:off x="7086600" y="361188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from an original 1,650-point design (~80 person-hours) due to schedule constraints — a deliberate, quantified trade-off (see Slide 12).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11148" y="6093527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— Scene availability audit, 1985-2024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42565D-35CB-606B-E2B5-AEE40827B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52" y="4742728"/>
            <a:ext cx="5669280" cy="1399540"/>
          </a:xfrm>
          <a:prstGeom prst="rect">
            <a:avLst/>
          </a:prstGeom>
        </p:spPr>
      </p:pic>
      <p:pic>
        <p:nvPicPr>
          <p:cNvPr id="15" name="Picture 14" descr="ban0052_interpretation_chi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754" y="4434840"/>
            <a:ext cx="4605410" cy="1645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86600" y="6135623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</a:rPr>
              <a:t>Fig. — reference-point interpretation tool, one point across all four epochs (real chip cache)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FACTORS (COLLECTION 2 L2 -&gt; SURFACE REFLECTANCE)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Optical: </a:t>
            </a:r>
            <a:r>
              <a:rPr lang="en-US" sz="1150" dirty="0">
                <a:solidFill>
                  <a:srgbClr val="23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 × 0.0000275 − 0.2
</a:t>
            </a:r>
            <a:r>
              <a:rPr lang="en-US" sz="1150" b="1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Thermal: </a:t>
            </a:r>
            <a:r>
              <a:rPr lang="en-US" sz="1150" dirty="0">
                <a:solidFill>
                  <a:srgbClr val="23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 × 0.00341802 + 149.0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Compositing: dry season only (1 Nov – 31 Mar), cloud/shadow masked (QA_PIXEL), median-reduced (robust to residual cloud/shadow).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CROSS-SENSOR HARMONISATION — TESTED, NOT ASSUMED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Roy et al. (2016) coefficients vs. a locally-fitted alternative (45 near-coincident scene pairs, 34,414 paired pixels, split by pair to avoid leakage). Result: published coefficients performed worse than no correction at all (held-out residual: raw 0.01582, Roy 0.01680, local OLS 0.01433).</a:t>
            </a:r>
            <a:endParaRPr lang="en-US" sz="1150" dirty="0"/>
          </a:p>
        </p:txBody>
      </p:sp>
      <p:sp>
        <p:nvSpPr>
          <p:cNvPr id="9" name="Text 7" hidden="1"/>
          <p:cNvSpPr/>
          <p:nvPr/>
        </p:nvSpPr>
        <p:spPr>
          <a:xfrm>
            <a:off x="502920" y="402336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9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NIR/SWIR2 untransformed matters: NBR (used for LandTrendr/Bandarban) is built from exactly those two bands. Roy's coefficients would have degraded them by 8.5% and 69.8% respectively.</a:t>
            </a:r>
            <a:endParaRPr lang="en-US" sz="1150" dirty="0"/>
          </a:p>
        </p:txBody>
      </p:sp>
      <p:sp>
        <p:nvSpPr>
          <p:cNvPr id="10" name="Text 8" hidden="1"/>
          <p:cNvSpPr/>
          <p:nvPr/>
        </p:nvSpPr>
        <p:spPr>
          <a:xfrm>
            <a:off x="502920" y="480060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stack — 23 bands: spectral (7) + vegetation indices (NDVI/EVI/SAVI) + moisture/built-up (NDWI/NDMI/NDBI) + NBR + tasselled cap (3) + GLCM texture (3, on NIR) + terrain (elevation/slope/aspect).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234440"/>
          <a:ext cx="4617720" cy="2304288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 vs. raw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−33.9%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 et 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−1.5% (below margin)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was best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086600" y="3703320"/>
            <a:ext cx="4617720" cy="2697480"/>
          </a:xfrm>
          <a:prstGeom prst="rect">
            <a:avLst/>
          </a:prstGeom>
          <a:solidFill>
            <a:srgbClr val="FAFBFA"/>
          </a:solidFill>
          <a:ln w="15875">
            <a:solidFill>
              <a:srgbClr val="D6DED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086600" y="47320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[IMG-06]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0" y="5969127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 — Residual RMSE per band, raw vs. Roy vs. local</a:t>
            </a:r>
            <a:endParaRPr lang="en-US" sz="900" dirty="0"/>
          </a:p>
        </p:txBody>
      </p:sp>
      <p:pic>
        <p:nvPicPr>
          <p:cNvPr id="16" name="Picture 1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D4DE98C6-4431-49DD-29BB-05966DC527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46962"/>
          <a:stretch>
            <a:fillRect/>
          </a:stretch>
        </p:blipFill>
        <p:spPr>
          <a:xfrm>
            <a:off x="613900" y="3762756"/>
            <a:ext cx="5367821" cy="2161794"/>
          </a:xfrm>
          <a:prstGeom prst="rect">
            <a:avLst/>
          </a:prstGeom>
        </p:spPr>
      </p:pic>
      <p:pic>
        <p:nvPicPr>
          <p:cNvPr id="17" name="Picture 1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57362F8-F401-51A2-49C1-6419A0FDF7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46962"/>
          <a:stretch>
            <a:fillRect/>
          </a:stretch>
        </p:blipFill>
        <p:spPr>
          <a:xfrm>
            <a:off x="6335539" y="3762756"/>
            <a:ext cx="5368781" cy="21621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630936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partitioning: train/val/test splits are spatially disjoint whole 10 km blocks (never random pixel/patch splits — spatial autocorrelation would inflate accuracy). Targets 70/15/15, balanced on forest-loss pixel share, since loss is only 0.22% of pixels in Gazipur/Sylhet.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plantation constraint: tea polygons fall in only 4 of 48 blocks (2 hold 99.8% of the area). Solved by pinning the two meaningful blocks (largest -&gt; train, second -&gt; test). Unpinned assignment gave 0.000 F1 on plantation everywhere.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detection: PCC (indirect, error-accumulating), NDVI differencing (2σ threshold calibrated on stable-forest pixels), Siamese (direct).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segmentation (Bandarban only): LandTrendr on annual NBR series 1988-2024 — classifies trajectories as permanent conversion, cyclical disturbance, or undetermined (disturbance within 6 years of series end).</a:t>
            </a:r>
            <a:endParaRPr lang="en-US" sz="115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framework: Olofsson et al. (2014) stratified area estimator with 95% CIs (never raw pixel counts). Headline metric is F1 on the change class, not overall accuracy.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8660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EXPERIMENTS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508760"/>
          <a:ext cx="4617720" cy="2688336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Forest, spectral+indices+texture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+ terrain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terrain help?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U-Net, full 23-band stack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U-Net, 20 bands (no texture)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RQ3 ablation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Siamese network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change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Stacked RF + U-Net (logistic meta-learner)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combining help?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58350" y="608076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 — Spatially disjoint block assignment</a:t>
            </a:r>
            <a:endParaRPr lang="en-US" sz="900" dirty="0"/>
          </a:p>
        </p:txBody>
      </p:sp>
      <p:pic>
        <p:nvPicPr>
          <p:cNvPr id="10" name="Picture 9" descr="A map of a country&#10;&#10;AI-generated content may be incorrect.">
            <a:extLst>
              <a:ext uri="{FF2B5EF4-FFF2-40B4-BE49-F238E27FC236}">
                <a16:creationId xmlns:a16="http://schemas.microsoft.com/office/drawing/2014/main" id="{F43F9A6B-3173-C637-B2BC-909785D800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44"/>
          <a:stretch>
            <a:fillRect/>
          </a:stretch>
        </p:blipFill>
        <p:spPr>
          <a:xfrm>
            <a:off x="695326" y="4319585"/>
            <a:ext cx="5400674" cy="19026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extraction (U-Net): 128×128 px (3.84 km) — not the originally planned 256×256, which yielded only ~165 total training patches (too few to fine-tune a pretrained encoder). 128 px yields 706 patches total, zero fetch failures. Patches cut strictly inside blocks; partial edge tiles discarded.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6309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loss is 0.22% of pixels in Gazipur/Sylhet vs. 24.3% in Bandarban — a two-orders-of-magnitude difference. Patch sampling weighted toward informative content in Gazipur/Sylhet, left unweighted in Bandarban. Test splits are never weighted, in any district.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(E7): meta-learner fit on the validation split only (not train — would just learn memorized predictions; not test — leakage). Training-patch counts: Gazipur 55, Sylhet 167, Bandarban 260 — central to the RQ5 result.</a:t>
            </a:r>
            <a:endParaRPr lang="en-US" sz="115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function: Dice + cross-entropy; nodata pixels excluded via ignore-index (not folded into non-forest class).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08660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SPLIT SHARES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508760"/>
          <a:ext cx="4617720" cy="164592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Gazipur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21/3/3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.706/.136/.159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.650/.185/.165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Sylhet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31/10/7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.732/.135/.133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.631/.224/.145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Bandarban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45/11/8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.697/.149/.154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.696/.153/.151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086600" y="342900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are (train/val/test). Sylhet deviates furthest from the 70/15/15 target (train loss-share 0.631 vs. 0.700) — the accepted cost of pinning plantation blocks to make RQ3 answerable.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BASELINE + TERRAIN (E1/E2) — 3 SEEDS, VS. HANSEN LABELS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53312"/>
          <a:ext cx="5532120" cy="109728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Gazipur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Terrain helps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Sylhet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Terrain helps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Bandarban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noise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097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+ ENSEMBLE — SINGLE SEED, PATCH-TEST MACRO F1</a:t>
            </a:r>
            <a:endParaRPr lang="en-US" sz="11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353312"/>
          <a:ext cx="5532120" cy="10972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Gazipur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Sylhet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Bandarban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2880360"/>
            <a:ext cx="11201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wins everywhere → direct answer to RQ2. RF wins decisively at 55 patches, loses at 167, ties at 260 — a clean answer to RQ5: deep learning isn't uniformly superior, only superior above a data threshold.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ABLATION (RQ3) — SYLHET, PER-CLASS F1</a:t>
            </a:r>
            <a:endParaRPr lang="en-US" sz="1100" dirty="0"/>
          </a:p>
        </p:txBody>
      </p:sp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49040"/>
          <a:ext cx="7360920" cy="8229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Nat.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 (texture)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E4 (no texture)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502920" y="4709160"/>
            <a:ext cx="7360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+0.0824 plantation F1 (22% relative gain), almost entirely isolated to the plantation class. Random Forest on the same data scores only 0.0286 on plantation — a per-pixel model literally cannot see the spatial pattern that defines tea.</a:t>
            </a:r>
            <a:endParaRPr lang="en-US" sz="1050" dirty="0"/>
          </a:p>
        </p:txBody>
      </p:sp>
      <p:sp>
        <p:nvSpPr>
          <p:cNvPr id="5" name="Text 9"/>
          <p:cNvSpPr/>
          <p:nvPr/>
        </p:nvSpPr>
        <p:spPr>
          <a:xfrm>
            <a:off x="8229600" y="40690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vs E2 F1 by district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8229600" y="50292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by district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8229600" y="59893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 F1, texture on/off</a:t>
            </a:r>
            <a:endParaRPr lang="en-US" sz="800" dirty="0"/>
          </a:p>
        </p:txBody>
      </p:sp>
      <p:pic>
        <p:nvPicPr>
          <p:cNvPr id="41" name="Picture 40" descr="rf_terrain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9818" y="3520440"/>
            <a:ext cx="2457123" cy="502920"/>
          </a:xfrm>
          <a:prstGeom prst="rect">
            <a:avLst/>
          </a:prstGeom>
        </p:spPr>
      </p:pic>
      <p:pic>
        <p:nvPicPr>
          <p:cNvPr id="42" name="Picture 41" descr="model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9818" y="4480560"/>
            <a:ext cx="2457123" cy="502920"/>
          </a:xfrm>
          <a:prstGeom prst="rect">
            <a:avLst/>
          </a:prstGeom>
        </p:spPr>
      </p:pic>
      <p:pic>
        <p:nvPicPr>
          <p:cNvPr id="43" name="Picture 42" descr="texture_abl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706" y="5440680"/>
            <a:ext cx="247734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Results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Reference-sample accuracy figures use phase8_results.md (interim) numbers throughout.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VS. PERMANENT DISTURBANCE, BANDARBAN (RQ6) — LANDTRENDR, 1988-2024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5532120" cy="146304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371,380 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 conversion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14,457 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Cyclical disturbance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56,235 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Undetermined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17,431 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2880360"/>
            <a:ext cx="5532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88,122 ha disturbed, only 16.4% is permanent — a bitemporal method would have reported ~4× the actual deforestation. This is the finding the third district exists to produce.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443484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Bandarban disturbance breakdown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63640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LOSS VS. INDEPENDENT REFERENCE SAMPLE (400 PTS)</a:t>
            </a:r>
            <a:endParaRPr lang="en-US" sz="11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325880"/>
          <a:ext cx="5532120" cy="1170432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Adjusted loss (1990-2024)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Ref. 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Gazipur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 ± 849 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Sylhet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5,547 ± 10,755 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Bandarban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71,011 ± 41,629 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263640" y="2514600"/>
            <a:ext cx="5532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Gazipur and Sylhet intervals include zero — no significant loss detectable there at 95% CI, a consequence of the reduced sample (400 vs. the planned 1,650). Bandarban's reconciled estimate is the exception: 71,011 ± 41,629 ha — the first interval in this thesis that excludes zero.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400800" y="411480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loss ± 95% CI, all districts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26364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INTER-INTERPRETER AGREEMENT (COHEN'S Κ, TARGET ≥0.75)</a:t>
            </a:r>
            <a:endParaRPr lang="en-US" sz="1100" dirty="0"/>
          </a:p>
        </p:txBody>
      </p:sp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800600"/>
          <a:ext cx="3200400" cy="8229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Gazipur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0.157 ± 0.165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Sylhet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 ± 0.124 (≈ chance)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 14"/>
          <p:cNvSpPr/>
          <p:nvPr/>
        </p:nvSpPr>
        <p:spPr>
          <a:xfrm>
            <a:off x="502920" y="5029200"/>
            <a:ext cx="5532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Gazipur's over-sampled loss stratum: only 2 of 40 points were genuine forest→non-forest transitions — a direct measurement of Hansen commission error.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263640" y="5989320"/>
            <a:ext cx="5532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flagged as findings, not errors: water F1 = 0.000 everywhere (map's water class is permanent, reference is date-specific); Sylhet's plantation stratum was never interpreted, so RQ3's model-side result has no independent validation yet.</a:t>
            </a:r>
            <a:endParaRPr lang="en-US" sz="950" dirty="0"/>
          </a:p>
        </p:txBody>
      </p:sp>
      <p:pic>
        <p:nvPicPr>
          <p:cNvPr id="44" name="Picture 43" descr="bandarban_disturb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765" y="3703320"/>
            <a:ext cx="4462429" cy="685800"/>
          </a:xfrm>
          <a:prstGeom prst="rect">
            <a:avLst/>
          </a:prstGeom>
        </p:spPr>
      </p:pic>
      <p:pic>
        <p:nvPicPr>
          <p:cNvPr id="45" name="Picture 44" descr="adjusted_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074" y="3474720"/>
            <a:ext cx="4219251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&amp;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MATTERS MORE AS LANDSCAPE COMPLEXITY RISES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6309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Spectrally distinct + scarce data (Gazipur) → per-pixel model (RF) wins.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(not spectrally) confusable (Sylhet plantation) → spatial context wins (U-Net beats RF by &gt;10×, 0.4520 vs. 0.0286).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Temporally structured (Bandarban jhum) → no bitemporal model of any architecture works; only trajectory segmentation (LandTrendr) answers it.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329184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inherit their meta-learner's blind spots: E7 scored 0.0000 on plantation despite the U-Net inside it scoring 0.4520 — the plantation-block-pinning that made RQ3 answerable left the validation split, where the meta-learner is fit, with zero plantation examples. General lesson: a stack can be strictly worse than its own best member on a rare, spatially clustered class.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493776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Harmonisation coefficients don't automatically transfer — published Roy et al. coefficients, fit over CONUS, performed worse than no correction here, a general caution against adopting published remote-sensing coefficients on authority rather than testing locally. Bitemporal change detection is structurally weak here: no method exceeded F1=0.36.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8660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 MAPPING IS GENUINELY UNSOLVED — FOUR CONVERGING LINES OF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86600" y="1417320"/>
            <a:ext cx="4617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sub-metre digitisation still carried an 83% error on one polygon (1,906 ha claimed → 321 ha real, caught only by independent review).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dataset maps Bangladesh's tea (global databases omit the country; OSM has 1 usable polygon; gazetteers resolve 1/19 estates).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FFT/Hough texture detector found no separation between tea and forest (p=0.55).</a:t>
            </a:r>
            <a:endParaRPr lang="en-US" sz="10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trained human interpreters agreed at chance level (κ=0.038, Sylhet).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Contributions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43560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landscapes, not one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755648"/>
            <a:ext cx="103327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us see how model choice changes as the terrain gets harder to read.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715768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715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6700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texture test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990088"/>
            <a:ext cx="103327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texture on vs. off, nothing else changed.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950208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950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390448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real loss from regrowth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4224528"/>
            <a:ext cx="103327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Bandarban's number counts permanent clearing only, not the forest cycling back.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5184648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5184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513892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uncertainty honestly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5458968"/>
            <a:ext cx="103327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intervals, not raw counts — and we show where things didn't work, not just where they did.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Limitations, Future Work &amp; Conclusion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532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sample cut to 400 points (planned 1,650) → wide uncertainty, can't confirm loss in two of three districts.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two interpreters didn't agree well (κ below target) → accuracy numbers are provisional.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plantation mapping is incomplete → Sylhet's confusion is reduced, not solved.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models ran once each, and the 1990 imagery was scored with a model trained on 2024 data — both untested assumptions, not yet confirmed.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30936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— PRIORITY ORDER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141732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 spatial reference dataset for Bangladeshi tea plantation — highest-value next step; every plantation result in this study is bounded by it.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and re-measurement of κ, then recomputation of all reference-based figures.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LandTrendr-style trajectory separation to Sylhet's gradual degradation.</a:t>
            </a:r>
            <a:endParaRPr lang="en-US" sz="10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2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replication of deep-learning experiments; complete the 2000-2024 overlap comparison to quantify pre-2000 transfer.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3886200"/>
            <a:ext cx="5394960" cy="2606040"/>
          </a:xfrm>
          <a:prstGeom prst="rect">
            <a:avLst/>
          </a:prstGeom>
          <a:solidFill>
            <a:srgbClr val="E8F1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3959352"/>
            <a:ext cx="4937760" cy="2459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No single model or method wins everywhere — the right choice depends on whether the target class's discriminating signal is spectral, spatial, or temporal. This study measured, rather than assumed, several standard remote-sensing practices and found them wanting in this setting — which is itself the thesis's central, generalizable finding.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611880"/>
            <a:ext cx="2926080" cy="0"/>
          </a:xfrm>
          <a:prstGeom prst="line">
            <a:avLst/>
          </a:prstGeom>
          <a:noFill/>
          <a:ln w="19050">
            <a:solidFill>
              <a:srgbClr val="5C8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C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thesis asks not which model is best, but which property of a target class — spectral, spatial, or temporal — determines which model can even see it.”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 Sulaiman Sony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 2002026)   •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Jalal Uddin Mohammad Akbar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 2002050)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3944</Words>
  <Application>Microsoft Office PowerPoint</Application>
  <PresentationFormat>Widescreen</PresentationFormat>
  <Paragraphs>424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Sheikh Sulaiman</cp:lastModifiedBy>
  <cp:revision>5</cp:revision>
  <dcterms:created xsi:type="dcterms:W3CDTF">2026-08-21T09:03:01Z</dcterms:created>
  <dcterms:modified xsi:type="dcterms:W3CDTF">2026-08-22T07:01:19Z</dcterms:modified>
</cp:coreProperties>
</file>